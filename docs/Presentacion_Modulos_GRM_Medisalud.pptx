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722F37"/>
                </a:solidFill>
                <a:latin typeface="Calibri"/>
              </a:rPr>
              <a:t>Sistema de Gestión de Riesgos Cibernéticos (GRM)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Calibri"/>
              </a:rPr>
              <a:t>Medisalud Integral S.A. — Módulos del sistema y su fundamento metodológico
ISO/IEC 27005:2022 · MAGERIT v3.0 · FAIR · PERT · Simulación Monte Carlo · LOPDP Ecuador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La empresa: Medisalud Integral S.A.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Empresa privada mediana del sector salud </a:t>
            </a:r>
            <a:r>
              <a:rPr sz="1350">
                <a:solidFill>
                  <a:srgbClr val="1A1A1A"/>
                </a:solidFill>
                <a:latin typeface="Calibri"/>
              </a:rPr>
              <a:t>con sede en Quito, Ecuador: atención presencial, laboratorio clínico, telemedicina y agendamiento web.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Datos de categoría especial (LOPDP Art. 5): </a:t>
            </a:r>
            <a:r>
              <a:rPr sz="1350">
                <a:solidFill>
                  <a:srgbClr val="1A1A1A"/>
                </a:solidFill>
                <a:latin typeface="Calibri"/>
              </a:rPr>
              <a:t>historias clínicas, resultados de laboratorio y telemedicina — notificación SPDP en 72h y multas que pueden superar $500K.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Respuesta institucional: </a:t>
            </a:r>
            <a:r>
              <a:rPr sz="1350">
                <a:solidFill>
                  <a:srgbClr val="1A1A1A"/>
                </a:solidFill>
                <a:latin typeface="Calibri"/>
              </a:rPr>
              <a:t>metodología cuantitativa de riesgos (ISO 27005 + MAGERIT + FAIR + PERT) con horizonte de 12 meses, digitalizada en este sistema.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3063240"/>
          <a:ext cx="10515600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7724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Dato institucional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Sector y tipo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Salud privada · Empresa privada mediana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Infraestructura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 centros médicos + 1 oficina administrativa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Personal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85 empleados · 62 usuarios de sistemas de información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Pacientes registrados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18.500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Regulaciones aplicables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LOPDP Ecuador (Art. 5 · datos de salud) · RGLOPDP Art. 29–32 · MSP · SRI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Roles responsables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Gerente Administrativo (evaluación) · Coordinador de TI (seguridad) · Resp. Protección de Datos (cumplimiento)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FUNDAMENTO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Metodología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ISO/IEC 27005:2022 </a:t>
            </a:r>
            <a:r>
              <a:rPr sz="1350">
                <a:solidFill>
                  <a:srgbClr val="1A1A1A"/>
                </a:solidFill>
                <a:latin typeface="Calibri"/>
              </a:rPr>
              <a:t>define el proceso (contexto → identificación → análisis → tratamiento → monitoreo); MAGERIT aporta la valoración y las fórmulas; FAIR cuantifica en dólares.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PERT + Monte Carlo: </a:t>
            </a:r>
            <a:r>
              <a:rPr sz="1350">
                <a:solidFill>
                  <a:srgbClr val="1A1A1A"/>
                </a:solidFill>
                <a:latin typeface="Calibri"/>
              </a:rPr>
              <a:t>las estimaciones de tres puntos alimentan 10.000 iteraciones sobre distribuciones Beta-PERT para obtener el ALE con percentiles.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LOPDP Ecuador: </a:t>
            </a:r>
            <a:r>
              <a:rPr sz="1350">
                <a:solidFill>
                  <a:srgbClr val="1A1A1A"/>
                </a:solidFill>
                <a:latin typeface="Calibri"/>
              </a:rPr>
              <a:t>las reglas normativas se aplican por software, no por criterio individual.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834640"/>
          <a:ext cx="1051560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2377440"/>
                <a:gridCol w="69494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Expresión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RI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RI = VA × P × D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Riesgo Intrínseco: exposición del activo antes de controles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RR = RI × FRC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Riesgo Residual: riesgo remanente tras los controles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RR simple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RR = P × I  (1–25)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Versión ordinal para el mapa de calor 5×5 y la priorización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F_PERT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(O + 4·MP + P) / 6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Frecuencia anual esperada desde la estimación de tres puntos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ALE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TEF × LM × FRC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Pérdida Anual Esperada en USD (media y percentiles P50/P90/P95)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382512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VA: valor del activo (1–5) · P: probabilidad (1–5) · D: degradación (0.2–1.0) · FRC: efectividad del control · LM: magnitud de pérdida USD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VISTA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Resumen ejecutivo en vivo </a:t>
            </a:r>
            <a:r>
              <a:rPr sz="1350">
                <a:solidFill>
                  <a:srgbClr val="1A1A1A"/>
                </a:solidFill>
                <a:latin typeface="Calibri"/>
              </a:rPr>
              <a:t>de todo el ciclo: riesgos, tratamiento, catálogos, monitoreo e inventario.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Lectura gerencial: </a:t>
            </a:r>
            <a:r>
              <a:rPr sz="1350">
                <a:solidFill>
                  <a:srgbClr val="1A1A1A"/>
                </a:solidFill>
                <a:latin typeface="Calibri"/>
              </a:rPr>
              <a:t>¿cuánto dinero al año está en riesgo (ALE_PERT total) y qué tan cubierto está el portafolio?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377440"/>
          <a:ext cx="1051560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4124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Qué muestra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Escenarios de riesgo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Total por nivel (dona), exposición ALE_PERT USD, cobertura de tratamiento y de monitoreo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Estrategias §8.1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Barras de tratamientos: mitigar · transferir · aceptar · evitar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Catálogos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Amenazas (críticas LOPDP), vulnerabilidades severas (D ≥ 0.8) y estado de controles (barra verde/amarillo/rojo)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Monitoreo §9.1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Escenarios por frecuencia y % de cumplimiento global de los planes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Activos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Distribución por tipo MAGERIT y por nivel de criticidad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1 · ISO 27005 CLÁUSULA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Organización y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Parámetros fijos de la metodología: </a:t>
            </a:r>
            <a:r>
              <a:rPr sz="1350">
                <a:solidFill>
                  <a:srgbClr val="1A1A1A"/>
                </a:solidFill>
                <a:latin typeface="Calibri"/>
              </a:rPr>
              <a:t>escalas con anclas USD, apetito y tolerancia, mapa de calor 5×5 y fórmulas — no editables para garantizar consistencia.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Calculadora PERT: </a:t>
            </a:r>
            <a:r>
              <a:rPr sz="1350">
                <a:solidFill>
                  <a:srgbClr val="1A1A1A"/>
                </a:solidFill>
                <a:latin typeface="Calibri"/>
              </a:rPr>
              <a:t>única parte interactiva; explora E_PERT = (O+4·MP+P)/6 sin alterar el sistema.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377440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188720"/>
                <a:gridCol w="6583680"/>
                <a:gridCol w="14630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Rango RR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Estado vs. criterio de aceptación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Plazo máximo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20 – 25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 aceptable bajo ninguna circunstancia · escalación a Gerencia + SPDP 72h si hay datos de pacientes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 30 días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12 – 19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 aceptable · Plan de Tratamiento formal con análisis costo-beneficio en USD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&lt; 90 días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Aceptable con controles compensatorios documentados y monitoreo activo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Semestral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 – 5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Dentro del umbral de aceptación · registrar y revisar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Anual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382512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Tabla de umbrales §4.4.1 — la priorización y los plazos del sistema se derivan de estos criterios.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2 · IDENTIFICACIÓN Y VALORACIÓN MAGERIT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Inventario de Activos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Valoración multidimensional: </a:t>
            </a:r>
            <a:r>
              <a:rPr sz="1350">
                <a:solidFill>
                  <a:srgbClr val="1A1A1A"/>
                </a:solidFill>
                <a:latin typeface="Calibri"/>
              </a:rPr>
              <a:t>sliders 1–5 en C, I, D, Legal, Operativo, Económico (+ Exposición y Sensibilidad en archivos digitales); VAG/VAD → VA (1–5) → NC-1…NC-5 en tiempo real.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Regla LOPDP Art. 5: </a:t>
            </a:r>
            <a:r>
              <a:rPr sz="1350">
                <a:solidFill>
                  <a:srgbClr val="1A1A1A"/>
                </a:solidFill>
                <a:latin typeface="Calibri"/>
              </a:rPr>
              <a:t>activos con datos de salud reciben C = 5 automáticamente.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377440"/>
          <a:ext cx="1051560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914400"/>
                <a:gridCol w="4937760"/>
                <a:gridCol w="36576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Descriptor cualitativo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Ancla económica (USD)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Activo crítico para la misión clínica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&gt; $500K de pérdida esperada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Activo esencial para procesos core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$100K – $500K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Activo importante con impacto moderado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$10K – $100K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Activo de soporte con impacto limitado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$1K – $10K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MB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Activo prescindible o de impacto mínimo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&lt; $1K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382512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Escala cuantitativa de valoración §5.1.5 — anclas calibradas para el sector salud privado ecuatoriano.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3 · CATÁLOGO MAGERIT §5.2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Amenazas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34 amenazas en 4 grupos </a:t>
            </a:r>
            <a:r>
              <a:rPr sz="1350">
                <a:solidFill>
                  <a:srgbClr val="1A1A1A"/>
                </a:solidFill>
                <a:latin typeface="Calibri"/>
              </a:rPr>
              <a:t>(N Naturales · I Industriales · E Errores · A Ataques), asociadas a los activos del inventario.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Frecuencia PERT de tres puntos </a:t>
            </a:r>
            <a:r>
              <a:rPr sz="1350">
                <a:solidFill>
                  <a:srgbClr val="1A1A1A"/>
                </a:solidFill>
                <a:latin typeface="Calibri"/>
              </a:rPr>
              <a:t>(O/MP/P eventos/año) → F_PERT → nivel de probabilidad P según la escala §4.3: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377440"/>
          <a:ext cx="1051560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/>
                <a:gridCol w="1463040"/>
                <a:gridCol w="2926080"/>
                <a:gridCol w="53949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Frecuencia anualizada (TEF)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Interpretación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Muy Alta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&gt; 52 / año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 materializa varias veces por semana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 – 52 / año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Incidentes recurrentes en el sector salud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0.1 – 1 / año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Ha ocurrido en el sector en los últimos 3 años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0.01 – 0.1 / año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Poco probable; requiere condiciones específicas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Muy Baja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&lt; 0.01 / año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Teóricamente posible; control efectivo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382512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Las amenazas críticas LOPDP (⚠) pueden activar notificación SPDP en 72h o EIPD (Art. 38/42).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3 · CATÁLOGO MAGERIT §5.3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Vulnerabilidades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21 vulnerabilidades en 3 grupos </a:t>
            </a:r>
            <a:r>
              <a:rPr sz="1350">
                <a:solidFill>
                  <a:srgbClr val="1A1A1A"/>
                </a:solidFill>
                <a:latin typeface="Calibri"/>
              </a:rPr>
              <a:t>(VT Tecnológicas · VO Organizacionales · VP De proceso), asociadas a las amenazas que las explotan.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La severidad determina la Degradación D: </a:t>
            </a:r>
            <a:r>
              <a:rPr sz="1350">
                <a:solidFill>
                  <a:srgbClr val="1A1A1A"/>
                </a:solidFill>
                <a:latin typeface="Calibri"/>
              </a:rPr>
              <a:t>fracción del valor del activo que se pierde — coeficiente directo de RI = VA × P × 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6647.5" y="2377440"/>
          <a:ext cx="1005840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822960"/>
                <a:gridCol w="822960"/>
                <a:gridCol w="2560320"/>
                <a:gridCol w="40233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Severidad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Pérdida del activo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Ancla económica (USD)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MA · Muy Alta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100% del valor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&gt; $500K en activos críticos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A · Alta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80% del valor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$100K – $500K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 · Media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60% del valor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$10K – $100K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B · Baja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40% del valor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$1K – $10K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MB · Muy Baja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20% del valor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&lt; $1K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382512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Tabla Severidad → Degradación §5.3, anclada a la escala económica §5.1.5 (pérdida ≈ D × valor del activo).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3 · CATÁLOGO ISO 27002 §5.4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Controles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10 controles ISO 27002:2022 </a:t>
            </a:r>
            <a:r>
              <a:rPr sz="1350">
                <a:solidFill>
                  <a:srgbClr val="1A1A1A"/>
                </a:solidFill>
                <a:latin typeface="Calibri"/>
              </a:rPr>
              <a:t>asociados a las vulnerabilidades que mitigan.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El estado de implementación define el FRC </a:t>
            </a:r>
            <a:r>
              <a:rPr sz="1350">
                <a:solidFill>
                  <a:srgbClr val="1A1A1A"/>
                </a:solidFill>
                <a:latin typeface="Calibri"/>
              </a:rPr>
              <a:t>(Factor de Reducción del Control), que transforma el riesgo: RR = RI × FRC.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Cambiar el estado </a:t>
            </a:r>
            <a:r>
              <a:rPr sz="1350">
                <a:solidFill>
                  <a:srgbClr val="1A1A1A"/>
                </a:solidFill>
                <a:latin typeface="Calibri"/>
              </a:rPr>
              <a:t>recalcula automáticamente el riesgo residual de los escenarios que usan ese control.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926080"/>
          <a:ext cx="1051560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914400"/>
                <a:gridCol w="68580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FRC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Efecto sobre el riesgo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Ausente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Sin reducción: el riesgo residual es igual al intrínseco (RR = RI)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Reducción del 40% del riesgo intrínseco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Implementado y auditado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Reducción del 70% del riesgo intrínseco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FASES 3–4 · ANÁLISIS Y ESTIMACIÓN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Nuevo Escenario de Riesgo — asistente de 10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Preselección automática: </a:t>
            </a:r>
            <a:r>
              <a:rPr sz="1350">
                <a:solidFill>
                  <a:srgbClr val="1A1A1A"/>
                </a:solidFill>
                <a:latin typeface="Calibri"/>
              </a:rPr>
              <a:t>el sistema propone amenazas, vulnerabilidades y controles según las asociaciones de los catálogos; el analista solo ajusta.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6607.5" y="1920240"/>
          <a:ext cx="10698480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98755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Acción del analista / cálculo del sistema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1–4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Selecciona activo → amenazas → vulnerabilidades → controles (rige el de mejor FRC)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Define el TEF (O/MP/P) por amenaza con justificación obligatoria · validación opcional con IA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Revisa la magnitud de pérdida LM en USD según la valoración C/I/D del activo (§4.2.1)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Monte Carlo 10.000 iteraciones por combinación: RI, RR, ALE_PERT, P90/P95, histograma y mapa de calor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Priorización automática por RR con plazos según los umbrales de aceptación (§4.4.1)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Estrategia de tratamiento por escenario + controles propuestos + costo (tabla §8.1 como guía)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Resumen: escenarios guardados con código ESC-NN automático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4 · REGISTRO DEL PORTAFOLIO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Riesgos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Registro consolidado: </a:t>
            </a:r>
            <a:r>
              <a:rPr sz="1350">
                <a:solidFill>
                  <a:srgbClr val="1A1A1A"/>
                </a:solidFill>
                <a:latin typeface="Calibri"/>
              </a:rPr>
              <a:t>cada escenario con código, nivel, RR, ALE y estado; estadísticas de exposición del portafolio.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Doble lectura del riesgo: </a:t>
            </a:r>
            <a:r>
              <a:rPr sz="1350">
                <a:solidFill>
                  <a:srgbClr val="1A1A1A"/>
                </a:solidFill>
                <a:latin typeface="Calibri"/>
              </a:rPr>
              <a:t>ordinal (RR sobre el mapa 5×5, para priorizar) y financiera (ALE en USD, para decidir).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0888.0" y="2377440"/>
          <a:ext cx="1078992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5120640"/>
                <a:gridCol w="39319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Qué representa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Uso en el sistema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RR (nivel)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Riesgo residual ordinal 1–25 clasificado en crítico/alto/medio/bajo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Priorización, plazos y color del portafolio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ALE_PERT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Pérdida anual esperada determinística (TEF × LM esperada)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Exposición base de cada escenario en USD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ALE_P90 / P95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Percentiles de la simulación Monte Carlo (colas adversas)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“Hay 10% (o 5%) de probabilidad de perder más de X”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P(ALE &gt; $200K)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Probabilidad de exceder el umbral de tolerancia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Verificación del apetito de riesgo de la Fase 1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5 · ISO 27005 §8.1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Tratamiento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Una estrategia por escenario, </a:t>
            </a:r>
            <a:r>
              <a:rPr sz="1350">
                <a:solidFill>
                  <a:srgbClr val="1A1A1A"/>
                </a:solidFill>
                <a:latin typeface="Calibri"/>
              </a:rPr>
              <a:t>con controles ISO 27002 propuestos, costo anual estimado y justificación documentada.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Análisis costo-beneficio: </a:t>
            </a:r>
            <a:r>
              <a:rPr sz="1350">
                <a:solidFill>
                  <a:srgbClr val="1A1A1A"/>
                </a:solidFill>
                <a:latin typeface="Calibri"/>
              </a:rPr>
              <a:t>costo anualizado del control vs. reducción de ALE esperada; el resultado neto debe ser positivo.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0888.0" y="2377440"/>
          <a:ext cx="1078992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206240"/>
                <a:gridCol w="51206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Definición operativa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Cuándo aplica en Medisalud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Controles que reducen la probabilidad (TEF) o el impacto (LM)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Costo del control &lt; ALE_PERT reducido · prioridad absoluta en CRÍTICOS (RR≥20)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TRANSFERIR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Ciberseguro, SLA o externalización del impacto financiero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Riesgo residual MEDIO y costo del seguro &lt; ALE_P50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ACEPTAR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Aceptación formal del riesgo residual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Solo MEDIO o BAJO, con justificación y aprobación de Gerencia · bloqueado en CRÍTICO/ALTO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EVITAR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Eliminar la actividad o proceso que genera el riesgo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Exposición inaceptable (RR=25) sin control efectivo posible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382512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El sistema bloquea Aceptar/Evitar en riesgos Críticos y Altos: el tratamiento es obligatorio independiente del costo.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6 · CICLO PDCA §9.1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Monitoreo Continuo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Frecuencia automática por nivel de riesgo; </a:t>
            </a:r>
            <a:r>
              <a:rPr sz="1350">
                <a:solidFill>
                  <a:srgbClr val="1A1A1A"/>
                </a:solidFill>
                <a:latin typeface="Calibri"/>
              </a:rPr>
              <a:t>el analista define el plan de cada escenario: checklist editable con checks de cumplimiento y plan sugerido (controles + actividades del ciclo).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Solo los escenarios con tratamiento completado </a:t>
            </a:r>
            <a:r>
              <a:rPr sz="1350">
                <a:solidFill>
                  <a:srgbClr val="1A1A1A"/>
                </a:solidFill>
                <a:latin typeface="Calibri"/>
              </a:rPr>
              <a:t>ingresan al plan de monitoreo.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0887.5" y="2468880"/>
          <a:ext cx="1078992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554480"/>
                <a:gridCol w="5212080"/>
                <a:gridCol w="27432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Nivel aplicable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Actividades clave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SEMANAL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CRÍTICO (RR≥20)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Estado de controles CTR-03/06/08 · KPI-02 · dashboard SIEM · notificaciones SPDP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Resp. Protección de Datos + Coord. TI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MENSUAL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ALTO (12–19)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Recálculo ALE_PERT · prueba de backups · logs SIEM · KPIs 01-05 y 08 · informe a Gerencia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Coord. TI + Gerencia Administrativa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TRIMESTRAL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MEDIO (6–11)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Re-ejecución MC completa (N≥10K) · simulacro phishing · accesos IAM · FRC actualizado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Prot. Datos + Coord. TI + Gerencia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ANUAL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BAJO (1–5) + global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Revisión total de inventario y catálogos · anclas USD por inflación · pen-test · recalibración PERT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Gerencia + TI + Prot. Datos + Dir. Médica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Calibri"/>
              </a:rPr>
              <a:t>FASE 6 · INDICADORES §9.2 Y CIERRE DEL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722F37"/>
                </a:solidFill>
                <a:latin typeface="Calibri"/>
              </a:rPr>
              <a:t>KPIs, Informe Ejecutivo y Asistente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5855" cy="2794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10029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KPIs: </a:t>
            </a:r>
            <a:r>
              <a:rPr sz="1350">
                <a:solidFill>
                  <a:srgbClr val="1A1A1A"/>
                </a:solidFill>
                <a:latin typeface="Calibri"/>
              </a:rPr>
              <a:t>10 indicadores cuantitativos del desempeño del programa de riesgos.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Informe ejecutivo: </a:t>
            </a:r>
            <a:r>
              <a:rPr sz="1350">
                <a:solidFill>
                  <a:srgbClr val="1A1A1A"/>
                </a:solidFill>
                <a:latin typeface="Calibri"/>
              </a:rPr>
              <a:t>consolidado del proceso para la Dirección.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22F37"/>
                </a:solidFill>
                <a:latin typeface="Calibri"/>
              </a:rPr>
              <a:t>▪ </a:t>
            </a:r>
            <a:r>
              <a:rPr sz="1350" b="1">
                <a:solidFill>
                  <a:srgbClr val="1A1A1A"/>
                </a:solidFill>
                <a:latin typeface="Calibri"/>
              </a:rPr>
              <a:t>Asistente IA: </a:t>
            </a:r>
            <a:r>
              <a:rPr sz="1350">
                <a:solidFill>
                  <a:srgbClr val="1A1A1A"/>
                </a:solidFill>
                <a:latin typeface="Calibri"/>
              </a:rPr>
              <a:t>valida frecuencias TEF con datos del sector y sugiere controles ISO 27002 (Pasos 5 y 9 del wizard).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047.5" y="2926080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1381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Campo del KPI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54864" marR="54864" marT="13716" marB="13716">
                    <a:solidFill>
                      <a:srgbClr val="722F3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Cómo se calcula el indicador (ej. # riesgos CRÍTICOS abiertos, tasa de clic en phishing)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Línea base y meta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Punto de partida medido y objetivo comprometido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Umbral de alerta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Valor que dispara acción correctiva o reevaluación PERT+MC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Frecuencia y responsable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Cadencia de medición y rol que responde por el indicador</a:t>
                      </a:r>
                    </a:p>
                  </a:txBody>
                  <a:tcPr marL="54864" marR="54864" marT="13716" marB="13716">
                    <a:solidFill>
                      <a:srgbClr val="F7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2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722F37"/>
                </a:solidFill>
                <a:latin typeface="Calibri"/>
              </a:rPr>
              <a:t>Del activo al dólar, y del dólar a la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Calibri"/>
              </a:rPr>
              <a:t>El sistema convierte la incertidumbre en parámetros financieros manejables:
activo → escenario → simulación Monte Carlo → tratamiento → monitoreo continuo.
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